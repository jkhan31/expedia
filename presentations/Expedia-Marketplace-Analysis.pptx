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Expedia Marketplace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C8C8C8"/>
                </a:solidFill>
              </a:defRPr>
            </a:pPr>
            <a:r>
              <a:t>Competitive Positioning Diagnosis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Booking rates vary significantly by market segment: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/>
            </a:pPr>
            <a:r>
              <a:t>  • Budget: 3.04% booking rate (Highest)</a:t>
            </a:r>
          </a:p>
          <a:p>
            <a:pPr>
              <a:spcBef>
                <a:spcPts val="800"/>
              </a:spcBef>
              <a:defRPr sz="1800"/>
            </a:pPr>
            <a:r>
              <a:t>  • Mid: 2.89% booking rate (Middle)</a:t>
            </a:r>
          </a:p>
          <a:p>
            <a:pPr>
              <a:spcBef>
                <a:spcPts val="800"/>
              </a:spcBef>
              <a:defRPr sz="1800"/>
            </a:pPr>
            <a:r>
              <a:t>  • Luxury: 2.20% booking rate (Lowest (-27% vs Budget))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C80000"/>
                </a:solidFill>
              </a:defRPr>
            </a:pPr>
            <a:r>
              <a:t>Why does Luxury underperform? Is it pricing, visibility, or quality trust?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/>
            </a:pPr>
            <a:r>
              <a:t>Outcome Data Available</a:t>
            </a:r>
          </a:p>
          <a:p>
            <a:pPr lvl="1">
              <a:spcBef>
                <a:spcPts val="200"/>
              </a:spcBef>
              <a:defRPr sz="1300"/>
            </a:pPr>
            <a:r>
              <a:t>100k searches with click_bool, booking_bool, gross_bookings_usd</a:t>
            </a:r>
          </a:p>
          <a:p>
            <a:pPr>
              <a:spcBef>
                <a:spcPts val="600"/>
              </a:spcBef>
              <a:defRPr sz="1600" b="1"/>
            </a:pPr>
            <a:r>
              <a:t>Causal Measurement</a:t>
            </a:r>
          </a:p>
          <a:p>
            <a:pPr lvl="1">
              <a:spcBef>
                <a:spcPts val="200"/>
              </a:spcBef>
              <a:defRPr sz="1300"/>
            </a:pPr>
            <a:r>
              <a:t>Direct measurement of what drives conversions, not hypothetical</a:t>
            </a:r>
          </a:p>
          <a:p>
            <a:pPr>
              <a:spcBef>
                <a:spcPts val="600"/>
              </a:spcBef>
              <a:defRPr sz="1600" b="1"/>
            </a:pPr>
            <a:r>
              <a:t>Segment Analysis</a:t>
            </a:r>
          </a:p>
          <a:p>
            <a:pPr lvl="1">
              <a:spcBef>
                <a:spcPts val="200"/>
              </a:spcBef>
              <a:defRPr sz="1300"/>
            </a:pPr>
            <a:r>
              <a:t>Budget (price &lt;$99 OR rating ≤2), Mid (3-4★), Luxury (price &gt;$159 AND rating ≥4)</a:t>
            </a:r>
          </a:p>
          <a:p>
            <a:pPr>
              <a:spcBef>
                <a:spcPts val="600"/>
              </a:spcBef>
              <a:defRPr sz="1600" b="1"/>
            </a:pPr>
            <a:r>
              <a:t>5 Core Analyses</a:t>
            </a:r>
          </a:p>
          <a:p>
            <a:pPr lvl="1">
              <a:spcBef>
                <a:spcPts val="200"/>
              </a:spcBef>
              <a:defRPr sz="1300"/>
            </a:pPr>
            <a:r>
              <a:t>Funnel, Ranking Impact, Competitive Positioning, Quality Trust Gap, User Behavior</a:t>
            </a:r>
          </a:p>
          <a:p>
            <a:pPr>
              <a:spcBef>
                <a:spcPts val="600"/>
              </a:spcBef>
              <a:defRPr sz="1600" b="1"/>
            </a:pPr>
            <a:r>
              <a:t>Data-Driven Scope</a:t>
            </a:r>
          </a:p>
          <a:p>
            <a:pPr lvl="1">
              <a:spcBef>
                <a:spcPts val="200"/>
              </a:spcBef>
              <a:defRPr sz="1300"/>
            </a:pPr>
            <a:r>
              <a:t>Skip redundant analyses when findings are conclusive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Finding 1: Competitiveness = Market Parity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Price is NOT the issue</a:t>
            </a:r>
          </a:p>
          <a:p>
            <a:pPr>
              <a:spcBef>
                <a:spcPts val="1000"/>
              </a:spcBef>
              <a:defRPr sz="1400"/>
            </a:pPr>
            <a:r>
              <a:t>Median comp_score: 0.0% (market parity)</a:t>
            </a:r>
          </a:p>
          <a:p>
            <a:pPr lvl="1">
              <a:defRPr sz="1300"/>
            </a:pPr>
            <a:r>
              <a:t>Underpriced hotels: 3.38% booking rate</a:t>
            </a:r>
          </a:p>
          <a:p>
            <a:pPr lvl="1">
              <a:defRPr sz="1300"/>
            </a:pPr>
            <a:r>
              <a:t>Overpriced hotels: 2.55% booking rate</a:t>
            </a:r>
          </a:p>
          <a:p>
            <a:pPr lvl="1">
              <a:defRPr sz="1300"/>
            </a:pPr>
            <a:r>
              <a:t>Difference: 0.83pp (negligible)</a:t>
            </a:r>
          </a:p>
          <a:p>
            <a:pPr lvl="1">
              <a:spcAft>
                <a:spcPts val="1000"/>
              </a:spcAft>
              <a:defRPr sz="1300"/>
            </a:pPr>
            <a:r>
              <a:t>Correlation to bookings: +0.0289</a:t>
            </a:r>
          </a:p>
          <a:p>
            <a:pPr>
              <a:defRPr sz="1400" b="1">
                <a:solidFill>
                  <a:srgbClr val="006400"/>
                </a:solidFill>
              </a:defRPr>
            </a:pPr>
            <a:r>
              <a:t>Verdict: Price optimization has minimal ROI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3931920" cy="31132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Finding 2: Ranking Position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Position MATTERS</a:t>
            </a:r>
          </a:p>
          <a:p>
            <a:pPr>
              <a:spcBef>
                <a:spcPts val="1000"/>
              </a:spcBef>
              <a:defRPr sz="1400"/>
            </a:pPr>
            <a:r>
              <a:t>Position 1 vs Position 10:</a:t>
            </a:r>
          </a:p>
          <a:p>
            <a:pPr lvl="1">
              <a:defRPr sz="1300"/>
            </a:pPr>
            <a:r>
              <a:t>Click rate: 18.78% vs 4.15% → 4.53x elasticity</a:t>
            </a:r>
          </a:p>
          <a:p>
            <a:pPr lvl="1">
              <a:defRPr sz="1300"/>
            </a:pPr>
            <a:r>
              <a:t>Booking rate: 13.37% vs 2.56% → 5.22x elasticity</a:t>
            </a:r>
          </a:p>
          <a:p>
            <a:pPr lvl="1">
              <a:spcAft>
                <a:spcPts val="1000"/>
              </a:spcAft>
              <a:defRPr sz="1300"/>
            </a:pPr>
            <a:r>
              <a:t>Insight: Position elasticity for BOOKING is stronger than for CLICKS</a:t>
            </a:r>
          </a:p>
          <a:p>
            <a:pPr>
              <a:defRPr sz="1400" b="1">
                <a:solidFill>
                  <a:srgbClr val="006400"/>
                </a:solidFill>
              </a:defRPr>
            </a:pPr>
            <a:r>
              <a:t>Verdict: Position 1 hotels are higher quality or better-matched to user intent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3931920" cy="17041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Finding 3: Quality Trust Gap by Segment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5169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Finding 4: Luxury Quality Problem Detail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03120"/>
                <a:gridCol w="2103120"/>
                <a:gridCol w="2194560"/>
              </a:tblGrid>
              <a:tr h="5029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Beat Promise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Fail Promise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Booking Rate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78% (30.7k hotels)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10% (4.0k)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3.04%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73% (27.0k)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12% (4.3k)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2.89%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Luxury</a:t>
                      </a:r>
                    </a:p>
                  </a:txBody>
                  <a:tcPr>
                    <a:solidFill>
                      <a:srgbClr val="FFC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39% (9.0k)</a:t>
                      </a:r>
                    </a:p>
                  </a:txBody>
                  <a:tcPr>
                    <a:solidFill>
                      <a:srgbClr val="FFC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31% (7.2k)</a:t>
                      </a:r>
                    </a:p>
                  </a:txBody>
                  <a:tcPr>
                    <a:solidFill>
                      <a:srgbClr val="FFC8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2.20%</a:t>
                      </a:r>
                    </a:p>
                  </a:txBody>
                  <a:tcPr>
                    <a:solidFill>
                      <a:srgbClr val="FFC8C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474720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Insight: Luxury Buyers Expectations Problem</a:t>
            </a:r>
          </a:p>
          <a:p>
            <a:pPr>
              <a:spcBef>
                <a:spcPts val="800"/>
              </a:spcBef>
              <a:defRPr sz="1300"/>
            </a:pPr>
            <a:r>
              <a:t>Luxury segment has LOWEST % beating promise (39%) and HIGHEST % failing (31%)</a:t>
            </a:r>
          </a:p>
          <a:p>
            <a:pPr>
              <a:spcBef>
                <a:spcPts val="600"/>
              </a:spcBef>
              <a:defRPr sz="1300"/>
            </a:pPr>
            <a:r>
              <a:t>When luxury buyer sees 4.30★ hotel but discovers 4.20★ reality → disappointment → abandonment</a:t>
            </a:r>
          </a:p>
          <a:p>
            <a:pPr>
              <a:spcBef>
                <a:spcPts val="600"/>
              </a:spcBef>
              <a:defRPr sz="1300" b="1">
                <a:solidFill>
                  <a:srgbClr val="C80000"/>
                </a:solidFill>
              </a:defRPr>
            </a:pPr>
            <a:r>
              <a:t>Result: Lowest booking rate (2.20%) among all segments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Finding 5: Funnel Analysis by Segment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5169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Finding 6: Returning Visitors Convert Better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Experience Drives Conversion</a:t>
            </a:r>
          </a:p>
          <a:p>
            <a:pPr>
              <a:spcBef>
                <a:spcPts val="1000"/>
              </a:spcBef>
              <a:defRPr sz="1400" b="1"/>
            </a:pPr>
            <a:r>
              <a:t>New Visitors</a:t>
            </a:r>
          </a:p>
          <a:p>
            <a:pPr lvl="1">
              <a:defRPr sz="1200"/>
            </a:pPr>
            <a:r>
              <a:t>• Click rate: 4.49%</a:t>
            </a:r>
          </a:p>
          <a:p>
            <a:pPr lvl="1">
              <a:defRPr sz="1200"/>
            </a:pPr>
            <a:r>
              <a:t>• Booking rate: 2.74%</a:t>
            </a:r>
          </a:p>
          <a:p>
            <a:pPr>
              <a:spcBef>
                <a:spcPts val="1000"/>
              </a:spcBef>
              <a:defRPr sz="1400" b="1"/>
            </a:pPr>
            <a:r>
              <a:t>Returning Visitors</a:t>
            </a:r>
          </a:p>
          <a:p>
            <a:pPr lvl="1">
              <a:defRPr sz="1200"/>
            </a:pPr>
            <a:r>
              <a:t>• Click rate: 4.61% (+2.7%)</a:t>
            </a:r>
          </a:p>
          <a:p>
            <a:pPr lvl="1">
              <a:defRPr sz="1200"/>
            </a:pPr>
            <a:r>
              <a:t>• Booking rate: 3.66% (+33.6%)</a:t>
            </a:r>
          </a:p>
          <a:p>
            <a:pPr>
              <a:spcBef>
                <a:spcPts val="1000"/>
              </a:spcBef>
              <a:defRPr sz="1400" b="1">
                <a:solidFill>
                  <a:srgbClr val="006400"/>
                </a:solidFill>
              </a:defRPr>
            </a:pPr>
            <a:r>
              <a:t>Conversion Lift: 1.34x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3931920" cy="31132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Root Cause: Quality Trust Gap Explains Everything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6400"/>
                </a:solidFill>
              </a:defRPr>
            </a:pPr>
            <a:r>
              <a:t>Budget Segment ✓ SUCCEEDS</a:t>
            </a:r>
          </a:p>
          <a:p>
            <a:pPr lvl="1">
              <a:spcBef>
                <a:spcPts val="400"/>
              </a:spcBef>
              <a:defRPr sz="1200"/>
            </a:pPr>
            <a:r>
              <a:t>Promise: 2.40★ | Delivery: 3.39 | Gap: +41.2% (beats) | Booking: 3.04%</a:t>
            </a:r>
          </a:p>
          <a:p>
            <a:pPr>
              <a:spcBef>
                <a:spcPts val="1000"/>
              </a:spcBef>
              <a:defRPr sz="1400" b="1">
                <a:solidFill>
                  <a:srgbClr val="006400"/>
                </a:solidFill>
              </a:defRPr>
            </a:pPr>
            <a:r>
              <a:t>Mid Segment ✓ STABLE</a:t>
            </a:r>
          </a:p>
          <a:p>
            <a:pPr lvl="1">
              <a:spcBef>
                <a:spcPts val="400"/>
              </a:spcBef>
              <a:defRPr sz="1200"/>
            </a:pPr>
            <a:r>
              <a:t>Promise: 3.34★ | Delivery: 3.97 | Gap: +18.7% (beats) | Booking: 2.89%</a:t>
            </a:r>
          </a:p>
          <a:p>
            <a:pPr>
              <a:spcBef>
                <a:spcPts val="1000"/>
              </a:spcBef>
              <a:defRPr sz="1400" b="1">
                <a:solidFill>
                  <a:srgbClr val="C80000"/>
                </a:solidFill>
              </a:defRPr>
            </a:pPr>
            <a:r>
              <a:t>Luxury Segment ✗ FAILS</a:t>
            </a:r>
          </a:p>
          <a:p>
            <a:pPr lvl="1">
              <a:spcBef>
                <a:spcPts val="400"/>
              </a:spcBef>
              <a:defRPr sz="1200"/>
            </a:pPr>
            <a:r>
              <a:t>Promise: 4.30★ | Delivery: 4.20 | Gap: -2.3% (fails) | Booking: 2.20%</a:t>
            </a:r>
          </a:p>
          <a:p>
            <a:pPr lvl="1">
              <a:spcBef>
                <a:spcPts val="400"/>
              </a:spcBef>
              <a:defRPr sz="1200"/>
            </a:pPr>
            <a:r>
              <a:t>31% of luxury hotels fail their promise → Highest abandonment</a:t>
            </a:r>
          </a:p>
          <a:p>
            <a:pPr>
              <a:spcBef>
                <a:spcPts val="1500"/>
              </a:spcBef>
              <a:defRPr sz="1400" b="1">
                <a:solidFill>
                  <a:srgbClr val="C80000"/>
                </a:solidFill>
              </a:defRPr>
            </a:pPr>
            <a:r>
              <a:t>VERDICT: Not price. Not visibility. Not user type. QUALITY TRUST.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Strategic Recommendations (Prioritized)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 b="1"/>
            </a:pPr>
            <a:r>
              <a:t>1. FIX LUXURY QUALITY GAP (Highest Impact)</a:t>
            </a:r>
          </a:p>
          <a:p>
            <a:pPr lvl="1">
              <a:spcBef>
                <a:spcPts val="200"/>
              </a:spcBef>
              <a:defRPr sz="1100"/>
            </a:pPr>
            <a:r>
              <a:t>Audit all 4.3★ hotels in luxury segment</a:t>
            </a:r>
          </a:p>
          <a:p>
            <a:pPr lvl="1">
              <a:spcBef>
                <a:spcPts val="200"/>
              </a:spcBef>
              <a:defRPr sz="1100"/>
            </a:pPr>
            <a:r>
              <a:t>Verify star rating accuracy against actual review scores</a:t>
            </a:r>
          </a:p>
          <a:p>
            <a:pPr lvl="1">
              <a:spcBef>
                <a:spcPts val="200"/>
              </a:spcBef>
              <a:defRPr sz="1100"/>
            </a:pPr>
            <a:r>
              <a:t>Remove misaligned listings or update ratings</a:t>
            </a:r>
          </a:p>
          <a:p>
            <a:pPr lvl="1">
              <a:spcBef>
                <a:spcPts val="200"/>
              </a:spcBef>
              <a:defRPr sz="1100"/>
            </a:pPr>
            <a:r>
              <a:t>Expected impact: 5% lift in luxury booking rate (2.20% → 2.31%)</a:t>
            </a:r>
          </a:p>
          <a:p>
            <a:pPr>
              <a:spcBef>
                <a:spcPts val="800"/>
              </a:spcBef>
              <a:defRPr sz="1300" b="1"/>
            </a:pPr>
            <a:r>
              <a:t>2. IMPROVE RANKING ALGORITHM (Strong Impact)</a:t>
            </a:r>
          </a:p>
          <a:p>
            <a:pPr lvl="1">
              <a:spcBef>
                <a:spcPts val="200"/>
              </a:spcBef>
              <a:defRPr sz="1100"/>
            </a:pPr>
            <a:r>
              <a:t>Optimize position 1 for quality-intent alignment</a:t>
            </a:r>
          </a:p>
          <a:p>
            <a:pPr lvl="1">
              <a:spcBef>
                <a:spcPts val="200"/>
              </a:spcBef>
              <a:defRPr sz="1100"/>
            </a:pPr>
            <a:r>
              <a:t>5.22x booking elasticity shows position matters more for booking than clicks</a:t>
            </a:r>
          </a:p>
          <a:p>
            <a:pPr lvl="1">
              <a:spcBef>
                <a:spcPts val="200"/>
              </a:spcBef>
              <a:defRPr sz="1100"/>
            </a:pPr>
            <a:r>
              <a:t>Position quality score should incorporate review-rating alignment</a:t>
            </a:r>
          </a:p>
          <a:p>
            <a:pPr>
              <a:spcBef>
                <a:spcPts val="800"/>
              </a:spcBef>
              <a:defRPr sz="1300" b="1"/>
            </a:pPr>
            <a:r>
              <a:t>3. BUILD TRUST SIGNALS (Secondary)</a:t>
            </a:r>
          </a:p>
          <a:p>
            <a:pPr lvl="1">
              <a:spcBef>
                <a:spcPts val="200"/>
              </a:spcBef>
              <a:defRPr sz="1100"/>
            </a:pPr>
            <a:r>
              <a:t>Highlight verified buyer reviews on luxury listings</a:t>
            </a:r>
          </a:p>
          <a:p>
            <a:pPr lvl="1">
              <a:spcBef>
                <a:spcPts val="200"/>
              </a:spcBef>
              <a:defRPr sz="1100"/>
            </a:pPr>
            <a:r>
              <a:t>Show returning visitor booking rates as proof point</a:t>
            </a:r>
          </a:p>
          <a:p>
            <a:pPr lvl="1">
              <a:spcBef>
                <a:spcPts val="200"/>
              </a:spcBef>
              <a:defRPr sz="1100"/>
            </a:pPr>
            <a:r>
              <a:t>1.34x lift from familiarity demonstrates trust value</a:t>
            </a:r>
          </a:p>
          <a:p>
            <a:pPr>
              <a:spcBef>
                <a:spcPts val="800"/>
              </a:spcBef>
              <a:defRPr sz="1300" b="1"/>
            </a:pPr>
            <a:r>
              <a:t>4. STOP PRICE OPTIMIZATION (Avoid Waste)</a:t>
            </a:r>
          </a:p>
          <a:p>
            <a:pPr lvl="1">
              <a:spcBef>
                <a:spcPts val="200"/>
              </a:spcBef>
              <a:defRPr sz="1100"/>
            </a:pPr>
            <a:r>
              <a:t>Price correlation to bookings: +0.0289 (negligible)</a:t>
            </a:r>
          </a:p>
          <a:p>
            <a:pPr lvl="1">
              <a:spcBef>
                <a:spcPts val="200"/>
              </a:spcBef>
              <a:defRPr sz="1100"/>
            </a:pPr>
            <a:r>
              <a:t>Redirect resources from pricing strategy to quality alignment</a:t>
            </a:r>
          </a:p>
          <a:p>
            <a:pPr lvl="1">
              <a:spcBef>
                <a:spcPts val="200"/>
              </a:spcBef>
              <a:defRPr sz="1100"/>
            </a:pPr>
            <a:r>
              <a:t>Price is NOT the conversion lever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 b="1"/>
            </a:pPr>
            <a:r>
              <a:t>Phase 1: Luxury Segment Audit (Week 1-2)</a:t>
            </a:r>
          </a:p>
          <a:p>
            <a:pPr lvl="1">
              <a:spcBef>
                <a:spcPts val="200"/>
              </a:spcBef>
              <a:defRPr sz="1100"/>
            </a:pPr>
            <a:r>
              <a:t>Extract all luxury hotels with 4.3★ rating</a:t>
            </a:r>
          </a:p>
          <a:p>
            <a:pPr lvl="1">
              <a:spcBef>
                <a:spcPts val="200"/>
              </a:spcBef>
              <a:defRPr sz="1100"/>
            </a:pPr>
            <a:r>
              <a:t>Calculate actual vs promised quality gap per hotel</a:t>
            </a:r>
          </a:p>
          <a:p>
            <a:pPr lvl="1">
              <a:spcBef>
                <a:spcPts val="200"/>
              </a:spcBef>
              <a:defRPr sz="1100"/>
            </a:pPr>
            <a:r>
              <a:t>Flag hotels with &gt;2% gap for review</a:t>
            </a:r>
          </a:p>
          <a:p>
            <a:pPr lvl="1">
              <a:spcBef>
                <a:spcPts val="200"/>
              </a:spcBef>
              <a:defRPr sz="1100"/>
            </a:pPr>
            <a:r>
              <a:t>Output: Audit report + remediation list</a:t>
            </a:r>
          </a:p>
          <a:p>
            <a:pPr>
              <a:spcBef>
                <a:spcPts val="800"/>
              </a:spcBef>
              <a:defRPr sz="1300" b="1"/>
            </a:pPr>
            <a:r>
              <a:t>Phase 2: Ranking Algorithm Update (Week 3-4)</a:t>
            </a:r>
          </a:p>
          <a:p>
            <a:pPr lvl="1">
              <a:spcBef>
                <a:spcPts val="200"/>
              </a:spcBef>
              <a:defRPr sz="1100"/>
            </a:pPr>
            <a:r>
              <a:t>Implement quality-alignment score in ranking</a:t>
            </a:r>
          </a:p>
          <a:p>
            <a:pPr lvl="1">
              <a:spcBef>
                <a:spcPts val="200"/>
              </a:spcBef>
              <a:defRPr sz="1100"/>
            </a:pPr>
            <a:r>
              <a:t>A/B test: Control (current algo) vs Treatment (quality-weighted)</a:t>
            </a:r>
          </a:p>
          <a:p>
            <a:pPr lvl="1">
              <a:spcBef>
                <a:spcPts val="200"/>
              </a:spcBef>
              <a:defRPr sz="1100"/>
            </a:pPr>
            <a:r>
              <a:t>Measure booking lift in luxury segment</a:t>
            </a:r>
          </a:p>
          <a:p>
            <a:pPr lvl="1">
              <a:spcBef>
                <a:spcPts val="200"/>
              </a:spcBef>
              <a:defRPr sz="1100"/>
            </a:pPr>
            <a:r>
              <a:t>Output: Algorithm improvement + A/B results</a:t>
            </a:r>
          </a:p>
          <a:p>
            <a:pPr>
              <a:spcBef>
                <a:spcPts val="800"/>
              </a:spcBef>
              <a:defRPr sz="1300" b="1"/>
            </a:pPr>
            <a:r>
              <a:t>Phase 3: Trust Signal Rollout (Week 5-6)</a:t>
            </a:r>
          </a:p>
          <a:p>
            <a:pPr lvl="1">
              <a:spcBef>
                <a:spcPts val="200"/>
              </a:spcBef>
              <a:defRPr sz="1100"/>
            </a:pPr>
            <a:r>
              <a:t>Add verified buyer labels to luxury listings</a:t>
            </a:r>
          </a:p>
          <a:p>
            <a:pPr lvl="1">
              <a:spcBef>
                <a:spcPts val="200"/>
              </a:spcBef>
              <a:defRPr sz="1100"/>
            </a:pPr>
            <a:r>
              <a:t>Test impact on click-to-book conversion</a:t>
            </a:r>
          </a:p>
          <a:p>
            <a:pPr lvl="1">
              <a:spcBef>
                <a:spcPts val="200"/>
              </a:spcBef>
              <a:defRPr sz="1100"/>
            </a:pPr>
            <a:r>
              <a:t>Measure returning visitor preference</a:t>
            </a:r>
          </a:p>
          <a:p>
            <a:pPr lvl="1">
              <a:spcBef>
                <a:spcPts val="200"/>
              </a:spcBef>
              <a:defRPr sz="1100"/>
            </a:pPr>
            <a:r>
              <a:t>Output: Feature + effectiveness metrics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Success Metrics &amp; Targets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2743200"/>
              </a:tblGrid>
              <a:tr h="402336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Luxury Booking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2.31% (+5%)</a:t>
                      </a:r>
                    </a:p>
                  </a:txBody>
                  <a:tcPr>
                    <a:solidFill>
                      <a:srgbClr val="C8FFC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Quality Gap (Luxury)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-1.0% (-57%)</a:t>
                      </a:r>
                    </a:p>
                  </a:txBody>
                  <a:tcPr>
                    <a:solidFill>
                      <a:srgbClr val="C8FFC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Hotels Beating Promise (Luxury)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50%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Overall Marketplace Booking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2.90% (+3.6%)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657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200" b="1"/>
            </a:pPr>
            <a:r>
              <a:t>Timeline: 6 weeks | Measurement: Weekly tracking of luxury booking rate, quality gap</a:t>
            </a:r>
          </a:p>
          <a:p>
            <a:pPr>
              <a:spcBef>
                <a:spcPts val="800"/>
              </a:spcBef>
              <a:defRPr sz="1200"/>
            </a:pPr>
            <a:r>
              <a:t>Success: 5% lift in luxury bookings confirms quality alignment is the conversion lever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200"/>
            </a:pPr>
            <a:r>
              <a:t>1. Stakeholder Alignment - Present findings to product, data science, and operations teams</a:t>
            </a:r>
          </a:p>
          <a:p>
            <a:pPr>
              <a:spcBef>
                <a:spcPts val="1000"/>
              </a:spcBef>
              <a:defRPr sz="1200"/>
            </a:pPr>
            <a:r>
              <a:t>2. Data QA - Verify luxury hotel star ratings and review scores (manual audit sample)</a:t>
            </a:r>
          </a:p>
          <a:p>
            <a:pPr>
              <a:spcBef>
                <a:spcPts val="1000"/>
              </a:spcBef>
              <a:defRPr sz="1200"/>
            </a:pPr>
            <a:r>
              <a:t>3. Tool Setup - Build luxury audit tool to identify misaligned hotels</a:t>
            </a:r>
          </a:p>
          <a:p>
            <a:pPr>
              <a:spcBef>
                <a:spcPts val="1000"/>
              </a:spcBef>
              <a:defRPr sz="1200"/>
            </a:pPr>
            <a:r>
              <a:t>4. Ranking Review - Work with ML team to understand current ranking factors</a:t>
            </a:r>
          </a:p>
          <a:p>
            <a:pPr>
              <a:spcBef>
                <a:spcPts val="1000"/>
              </a:spcBef>
              <a:defRPr sz="1200"/>
            </a:pPr>
            <a:r>
              <a:t>5. A/B Testing Plan - Design experiment structure for quality-weighted ranking</a:t>
            </a:r>
          </a:p>
          <a:p>
            <a:pPr>
              <a:spcBef>
                <a:spcPts val="1000"/>
              </a:spcBef>
              <a:defRPr sz="1200"/>
            </a:pPr>
            <a:r>
              <a:t>6. Communication - Draft messaging for hotels about star rating accuracy</a:t>
            </a:r>
          </a:p>
          <a:p>
            <a:pPr>
              <a:spcBef>
                <a:spcPts val="1000"/>
              </a:spcBef>
              <a:defRPr sz="1200"/>
            </a:pPr>
            <a:r>
              <a:t>7. Launch Week 1 - Begin luxury audit; identify first batch of hotels to remediate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